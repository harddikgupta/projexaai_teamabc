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7" r:id="rId11"/>
    <p:sldId id="514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 showGuides="1">
      <p:cViewPr varScale="1">
        <p:scale>
          <a:sx n="104" d="100"/>
          <a:sy n="104" d="100"/>
        </p:scale>
        <p:origin x="776" y="80"/>
      </p:cViewPr>
      <p:guideLst>
        <p:guide orient="horz" pos="2168"/>
        <p:guide pos="28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Submitted by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70447" y="3505366"/>
          <a:ext cx="6096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2301730010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Harddik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Gupta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2301730056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Shriya Saklani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2301730060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Saksham Pachauri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2301730048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Harshit Barthwal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2301730062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Piyush Goswami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14310" y="1372508"/>
            <a:ext cx="6608273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TEXT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440" y="5733256"/>
            <a:ext cx="85840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Faculty Mentor: </a:t>
            </a:r>
            <a:r>
              <a:rPr lang="en-IN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Dr Satinder Pal Singh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9705" y="1278890"/>
            <a:ext cx="8785225" cy="524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focuses on improving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degraded document images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affected by noise, blur, skew, low resolution, and uneven illumination.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proposes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combines deep spatial features from CNNs with handcrafted frequency-domain features (DWT, Gabor, LBP).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preprocessing techniques such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removal, skew correction, and contrast enhancement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used to improve input quality.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fused features are processed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sequence modeling with CTC decoding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accurate text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achieves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accuracy and robustness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 traditional OCR and CNN-only models, making it suitable for real-world applications.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9512" y="1293569"/>
            <a:ext cx="8496944" cy="507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existing OCR techniques and identify their limitations on degraded document images.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preprocess document images using noise removal, skew correction, binarization, and contrast enhancement.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deep spatial features from images using CNN architectures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handcrafted frequency-domain and texture features (DWT, Gabor, LBP).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fuse deep and handcrafted features into a single robust representation.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sequence modeling and decoding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CTC) for accurate text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and compare the proposed system with traditional and CNN-only OCR models.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75811" y="1390377"/>
            <a:ext cx="7812360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Feature Fusion: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CNN-based spatial features with handcrafted frequency-domain features for better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Preprocessing: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noise removal, skew correction, binarization, and contrast enhancement to handle degraded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Feature Extraction: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Extracts both deep learning features and texture/frequency features (DWT, Gabor, LBP).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 Modeling: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LSTM with CTC decoding to recognize variable-length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Robustness: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Performs better than traditional OCR and CNN-only models on low-quality documents.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 panose="020B0604020202020204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04190" y="1537335"/>
            <a:ext cx="7812405" cy="416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Completed literature review on OCR and text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Studied existing OCR models and hybrid feature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Selected datasets: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=&gt; IAM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=&gt; ICDAR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Designed image preprocessing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Planned hybrid feature extraction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GB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Started initial implementation of the model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3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 panose="020B0604020202020204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51520" y="1227511"/>
            <a:ext cx="5080000" cy="497395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Arial" panose="020B0604020202020204"/>
              <a:buChar char="•"/>
            </a:pPr>
            <a:r>
              <a:rPr lang="en-US" altLang="en-GB" sz="1600" b="1" dirty="0"/>
              <a:t>Implemented image preprocessing techniques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Noise removal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Contrast enhancement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Skew correction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>
              <a:buFont typeface="Arial" panose="020B0604020202020204"/>
              <a:buChar char="•"/>
            </a:pPr>
            <a:r>
              <a:rPr lang="en-US" altLang="en-GB" sz="1600" b="1" dirty="0"/>
              <a:t>Designed CNN architecture for feature extraction.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>
              <a:buFont typeface="Arial" panose="020B0604020202020204"/>
              <a:buChar char="•"/>
            </a:pPr>
            <a:r>
              <a:rPr lang="en-US" altLang="en-GB" sz="1600" b="1" dirty="0"/>
              <a:t>Integrated handcrafted feature extraction methods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DWT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Gabor filters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 lvl="1">
              <a:buFont typeface="Arial" panose="020B0604020202020204"/>
              <a:buChar char="•"/>
            </a:pPr>
            <a:r>
              <a:rPr lang="en-US" altLang="en-GB" sz="1600" dirty="0"/>
              <a:t>LBP</a:t>
            </a:r>
          </a:p>
          <a:p>
            <a:pPr>
              <a:buFont typeface="Arial" panose="020B0604020202020204"/>
              <a:buChar char="•"/>
            </a:pPr>
            <a:endParaRPr lang="en-US" altLang="en-GB" sz="1600" b="1" dirty="0"/>
          </a:p>
          <a:p>
            <a:pPr>
              <a:buFont typeface="Arial" panose="020B0604020202020204"/>
              <a:buChar char="•"/>
            </a:pPr>
            <a:r>
              <a:rPr lang="en-US" altLang="en-GB" sz="1600" b="1" dirty="0"/>
              <a:t>Developed hybrid feature fusion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3528" y="1322419"/>
            <a:ext cx="5080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Literature review of OCR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Dataset collection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Image enhancement and noise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CNN-based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Handcrafted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Hybrid feature 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Sequence modeling using </a:t>
            </a:r>
            <a:r>
              <a:rPr lang="en-US" altLang="en-GB" b="1" dirty="0" err="1"/>
              <a:t>BiLSTM</a:t>
            </a:r>
            <a:r>
              <a:rPr lang="en-US" altLang="en-GB" b="1" dirty="0"/>
              <a:t> + CTC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/>
              <a:t>Model training and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6"/>
            </p:blipFill>
            <p:spPr>
              <a:xfrm>
                <a:off x="6087360" y="2475240"/>
                <a:ext cx="646200" cy="333720"/>
              </a:xfrm>
              <a:prstGeom prst="rect"/>
            </p:spPr>
          </p:pic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96752"/>
            <a:ext cx="7596336" cy="5064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7"/>
            </p:blipFill>
            <p:spPr>
              <a:xfrm>
                <a:off x="7203160" y="2489200"/>
                <a:ext cx="484560" cy="34920"/>
              </a:xfrm>
              <a:prstGeom prst="rect"/>
            </p:spPr>
          </p:pic>
        </mc:Fallback>
      </mc:AlternateContent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4850382"/>
              </p:ext>
            </p:extLst>
          </p:nvPr>
        </p:nvGraphicFramePr>
        <p:xfrm>
          <a:off x="323528" y="1480231"/>
          <a:ext cx="7863840" cy="323596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Phase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Work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Jan</a:t>
                      </a:r>
                      <a:r>
                        <a:rPr lang="en-US" sz="1600" b="1" dirty="0"/>
                        <a:t>                      </a:t>
                      </a:r>
                      <a:endParaRPr sz="1600" b="1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/>
                        <a:t>Literature Review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Feb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/>
                        <a:t>Dataset collection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Mar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/>
                        <a:t>Model design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Apr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/>
                        <a:t>Implementation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 dirty="0"/>
                        <a:t>May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Testing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600" b="1"/>
                        <a:t>Jun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Final report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6"/>
            </p:blipFill>
            <p:spPr>
              <a:xfrm>
                <a:off x="7203160" y="2489200"/>
                <a:ext cx="484560" cy="34920"/>
              </a:xfrm>
              <a:prstGeom prst="rect"/>
            </p:spPr>
          </p:pic>
        </mc:Fallback>
      </mc:AlternateContent>
      <p:sp>
        <p:nvSpPr>
          <p:cNvPr id="2" name="Text Box 1"/>
          <p:cNvSpPr txBox="1"/>
          <p:nvPr/>
        </p:nvSpPr>
        <p:spPr>
          <a:xfrm>
            <a:off x="174478" y="1293834"/>
            <a:ext cx="5080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/>
              <a:buChar char="•"/>
            </a:pPr>
            <a:r>
              <a:rPr lang="en-US" altLang="en-GB" sz="2000" dirty="0"/>
              <a:t>Complete training of the hybrid OCR model</a:t>
            </a:r>
          </a:p>
          <a:p>
            <a:pPr>
              <a:buFont typeface="Arial" panose="020B0604020202020204"/>
              <a:buChar char="•"/>
            </a:pPr>
            <a:endParaRPr lang="en-US" altLang="en-GB" sz="2000" dirty="0"/>
          </a:p>
          <a:p>
            <a:pPr>
              <a:buFont typeface="Arial" panose="020B0604020202020204"/>
              <a:buChar char="•"/>
            </a:pPr>
            <a:r>
              <a:rPr lang="en-US" altLang="en-GB" sz="2000" dirty="0"/>
              <a:t>Optimize feature fusion strategy</a:t>
            </a:r>
          </a:p>
          <a:p>
            <a:pPr>
              <a:buFont typeface="Arial" panose="020B0604020202020204"/>
              <a:buChar char="•"/>
            </a:pPr>
            <a:endParaRPr lang="en-US" altLang="en-GB" sz="2000" dirty="0"/>
          </a:p>
          <a:p>
            <a:pPr>
              <a:buFont typeface="Arial" panose="020B0604020202020204"/>
              <a:buChar char="•"/>
            </a:pPr>
            <a:r>
              <a:rPr lang="en-US" altLang="en-GB" sz="2000" dirty="0"/>
              <a:t>Improve recognition accuracy</a:t>
            </a:r>
          </a:p>
          <a:p>
            <a:pPr>
              <a:buFont typeface="Arial" panose="020B0604020202020204"/>
              <a:buChar char="•"/>
            </a:pPr>
            <a:endParaRPr lang="en-US" altLang="en-GB" sz="2000" dirty="0"/>
          </a:p>
          <a:p>
            <a:pPr>
              <a:buFont typeface="Arial" panose="020B0604020202020204"/>
              <a:buChar char="•"/>
            </a:pPr>
            <a:r>
              <a:rPr lang="en-US" altLang="en-GB" sz="2000" dirty="0"/>
              <a:t>Reduce character error rate (CER)</a:t>
            </a:r>
          </a:p>
          <a:p>
            <a:pPr>
              <a:buFont typeface="Arial" panose="020B0604020202020204"/>
              <a:buChar char="•"/>
            </a:pPr>
            <a:endParaRPr lang="en-US" altLang="en-GB" sz="2000" dirty="0"/>
          </a:p>
          <a:p>
            <a:pPr>
              <a:buFont typeface="Arial" panose="020B0604020202020204"/>
              <a:buChar char="•"/>
            </a:pPr>
            <a:r>
              <a:rPr lang="en-US" altLang="en-GB" sz="2000" dirty="0"/>
              <a:t>Evaluate model on larger document datasets</a:t>
            </a:r>
          </a:p>
          <a:p>
            <a:pPr>
              <a:buFont typeface="Arial" panose="020B0604020202020204"/>
              <a:buChar char="•"/>
            </a:pPr>
            <a:endParaRPr lang="en-US" altLang="en-GB" sz="2000" dirty="0"/>
          </a:p>
          <a:p>
            <a:pPr>
              <a:buFont typeface="Arial" panose="020B0604020202020204"/>
              <a:buChar char="•"/>
            </a:pPr>
            <a:r>
              <a:rPr lang="en-US" altLang="en-GB" sz="2000" dirty="0"/>
              <a:t>Develop a working prototype OCR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251520" y="1412776"/>
            <a:ext cx="8784976" cy="411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Data</a:t>
            </a:r>
          </a:p>
          <a:p>
            <a:pPr algn="just"/>
            <a:r>
              <a:rPr lang="en-US" sz="2000" dirty="0"/>
              <a:t>IAM &amp; ICDAR document datasets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Synthetic degraded images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Ground-truth text labels</a:t>
            </a:r>
          </a:p>
          <a:p>
            <a:pPr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/>
              <a:t>Resources</a:t>
            </a:r>
            <a:endParaRPr lang="en-US" sz="2000" dirty="0"/>
          </a:p>
          <a:p>
            <a:pPr algn="just"/>
            <a:r>
              <a:rPr lang="en-US" sz="2000" dirty="0"/>
              <a:t>Python</a:t>
            </a:r>
          </a:p>
          <a:p>
            <a:pPr algn="just"/>
            <a:r>
              <a:rPr lang="en-US" sz="2000" dirty="0" err="1"/>
              <a:t>PyTorch</a:t>
            </a:r>
            <a:r>
              <a:rPr lang="en-US" sz="2000" dirty="0"/>
              <a:t> / TensorFlow</a:t>
            </a:r>
          </a:p>
          <a:p>
            <a:pPr algn="just"/>
            <a:r>
              <a:rPr lang="en-US" sz="2000" dirty="0"/>
              <a:t>OpenCV, PIL</a:t>
            </a:r>
          </a:p>
          <a:p>
            <a:pPr algn="just"/>
            <a:r>
              <a:rPr lang="en-US" sz="2000" dirty="0"/>
              <a:t>NumPy, Pandas</a:t>
            </a:r>
          </a:p>
          <a:p>
            <a:pPr algn="just"/>
            <a:r>
              <a:rPr lang="en-US" sz="2000" dirty="0"/>
              <a:t>scikit-image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311" y="278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18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Use Cases</a:t>
            </a:r>
          </a:p>
          <a:p>
            <a:r>
              <a:rPr lang="en-US" sz="2000" dirty="0"/>
              <a:t>Historical document digitization</a:t>
            </a:r>
          </a:p>
          <a:p>
            <a:r>
              <a:rPr lang="en-US" sz="2000" dirty="0"/>
              <a:t>Scanned records processing</a:t>
            </a:r>
          </a:p>
          <a:p>
            <a:r>
              <a:rPr lang="en-US" sz="2000" dirty="0"/>
              <a:t>Camera-based document OCR</a:t>
            </a:r>
          </a:p>
          <a:p>
            <a:r>
              <a:rPr lang="en-US" sz="2000" dirty="0"/>
              <a:t>Digital libraries</a:t>
            </a:r>
          </a:p>
          <a:p>
            <a:r>
              <a:rPr lang="en-US" sz="2000" dirty="0"/>
              <a:t>Automated data entry</a:t>
            </a:r>
          </a:p>
          <a:p>
            <a:endParaRPr lang="en-US" sz="2000" dirty="0"/>
          </a:p>
          <a:p>
            <a:r>
              <a:rPr lang="en-US" sz="2000" b="1" dirty="0"/>
              <a:t>Scope</a:t>
            </a:r>
          </a:p>
          <a:p>
            <a:r>
              <a:rPr lang="en-US" sz="2000" dirty="0"/>
              <a:t>Works on degraded document images</a:t>
            </a:r>
          </a:p>
          <a:p>
            <a:r>
              <a:rPr lang="en-US" sz="2000" dirty="0"/>
              <a:t>Supports printed &amp; handwritten text</a:t>
            </a:r>
          </a:p>
          <a:p>
            <a:r>
              <a:rPr lang="en-US" sz="2000" dirty="0"/>
              <a:t>Handles noise, blur, and skew</a:t>
            </a:r>
          </a:p>
          <a:p>
            <a:r>
              <a:rPr lang="en-US" sz="2000" dirty="0"/>
              <a:t>Scalable for large datasets</a:t>
            </a:r>
          </a:p>
          <a:p>
            <a:r>
              <a:rPr lang="en-US" sz="2000" dirty="0"/>
              <a:t>Extendable for future OCR systems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84416" y="1061448"/>
            <a:ext cx="6406515" cy="49250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dirty="0"/>
              <a:t>Improved OCR performance on degraded document images</a:t>
            </a:r>
          </a:p>
          <a:p>
            <a:r>
              <a:rPr lang="en-US" altLang="en-GB" sz="1600" dirty="0"/>
              <a:t>       Higher robustness to:</a:t>
            </a:r>
          </a:p>
          <a:p>
            <a:endParaRPr lang="en-US" altLang="en-GB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en-GB" sz="1600" dirty="0"/>
              <a:t>       Noise</a:t>
            </a:r>
          </a:p>
          <a:p>
            <a:pPr marL="342900" indent="-342900">
              <a:buFont typeface="+mj-lt"/>
              <a:buAutoNum type="arabicPeriod"/>
            </a:pPr>
            <a:endParaRPr lang="en-US" alt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en-GB" sz="1600" dirty="0"/>
              <a:t>       Blur</a:t>
            </a:r>
          </a:p>
          <a:p>
            <a:pPr marL="342900" indent="-342900">
              <a:buFont typeface="+mj-lt"/>
              <a:buAutoNum type="arabicPeriod"/>
            </a:pPr>
            <a:endParaRPr lang="en-US" alt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en-GB" sz="1600" dirty="0"/>
              <a:t>       Illumination changes</a:t>
            </a:r>
          </a:p>
          <a:p>
            <a:endParaRPr lang="en-US" alt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dirty="0"/>
              <a:t>Reduced Character Error Rate (CER) and Word Error Rate (WER)</a:t>
            </a:r>
          </a:p>
          <a:p>
            <a:r>
              <a:rPr lang="en-US" altLang="en-GB" sz="1600" dirty="0"/>
              <a:t>      Better accuracy compared to</a:t>
            </a:r>
            <a:r>
              <a:rPr lang="en-US" altLang="en-GB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 b="1" dirty="0"/>
          </a:p>
          <a:p>
            <a:pPr lvl="1"/>
            <a:r>
              <a:rPr lang="en-US" altLang="en-GB" sz="1600" dirty="0"/>
              <a:t>Traditional OCR</a:t>
            </a:r>
          </a:p>
          <a:p>
            <a:pPr lvl="1"/>
            <a:endParaRPr lang="en-US" altLang="en-GB" sz="1600" dirty="0"/>
          </a:p>
          <a:p>
            <a:pPr lvl="1"/>
            <a:r>
              <a:rPr lang="en-US" altLang="en-GB" sz="1600" dirty="0"/>
              <a:t>CNN-only OCR models</a:t>
            </a:r>
          </a:p>
          <a:p>
            <a:endParaRPr lang="en-US" alt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dirty="0"/>
              <a:t>Practical use in document digitization and automated data entry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anose="02020404030301010803" pitchFamily="18" charset="0"/>
              </a:rPr>
              <a:t>THANK</a:t>
            </a:r>
            <a:r>
              <a:rPr lang="en-US" sz="7200" dirty="0">
                <a:latin typeface="Garamond" panose="02020404030301010803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anose="02020404030301010803" pitchFamily="18" charset="0"/>
              </a:rPr>
              <a:t>YOU</a:t>
            </a:r>
            <a:endParaRPr lang="en-IN" sz="7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245"/>
  <p:tag name="TABLE_ENDDRAG_RECT" val="50*173*619*2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755</Words>
  <Application>Microsoft Office PowerPoint</Application>
  <PresentationFormat>On-screen Show (4:3)</PresentationFormat>
  <Paragraphs>213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Harddik Gupta</cp:lastModifiedBy>
  <cp:revision>322</cp:revision>
  <cp:lastPrinted>2022-09-05T08:43:00Z</cp:lastPrinted>
  <dcterms:created xsi:type="dcterms:W3CDTF">2020-01-16T09:05:00Z</dcterms:created>
  <dcterms:modified xsi:type="dcterms:W3CDTF">2026-03-16T12:26:44Z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4840452B662B4637980E01283D1999B5_13</vt:lpwstr>
  </property>
  <property fmtid="{D5CDD505-2E9C-101B-9397-08002B2CF9AE}" pid="3" name="KSOProductBuildVer">
    <vt:lpwstr>2057-12.2.0.23197</vt:lpwstr>
  </property>
</Properties>
</file>